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7" r:id="rId6"/>
    <p:sldId id="260" r:id="rId7"/>
    <p:sldId id="258" r:id="rId8"/>
    <p:sldId id="261" r:id="rId9"/>
    <p:sldId id="283" r:id="rId10"/>
    <p:sldId id="286" r:id="rId11"/>
    <p:sldId id="287" r:id="rId12"/>
    <p:sldId id="267" r:id="rId13"/>
    <p:sldId id="269" r:id="rId14"/>
    <p:sldId id="288" r:id="rId15"/>
    <p:sldId id="290" r:id="rId16"/>
    <p:sldId id="28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3" autoAdjust="0"/>
    <p:restoredTop sz="94660"/>
  </p:normalViewPr>
  <p:slideViewPr>
    <p:cSldViewPr snapToGrid="0">
      <p:cViewPr varScale="1">
        <p:scale>
          <a:sx n="95" d="100"/>
          <a:sy n="95" d="100"/>
        </p:scale>
        <p:origin x="163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1/20/2026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1/20/2026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1488" y="2718357"/>
            <a:ext cx="9430512" cy="1706995"/>
          </a:xfrm>
        </p:spPr>
        <p:txBody>
          <a:bodyPr/>
          <a:lstStyle/>
          <a:p>
            <a:r>
              <a:rPr lang="en-US" sz="2800" dirty="0"/>
              <a:t>Design and Implementation of an Anonymous, Verifiable, and Time-Bound Data System using Hash Functions, Digital Signatures, and Public Key Cryptography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AD81532-901D-8EC7-B8A0-66BA3ACB3278}"/>
              </a:ext>
            </a:extLst>
          </p:cNvPr>
          <p:cNvSpPr txBox="1">
            <a:spLocks/>
          </p:cNvSpPr>
          <p:nvPr/>
        </p:nvSpPr>
        <p:spPr>
          <a:xfrm>
            <a:off x="2761488" y="4652974"/>
            <a:ext cx="9430512" cy="12435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6600" b="1" kern="1200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sz="2800" dirty="0"/>
              <a:t>Team Members:</a:t>
            </a:r>
          </a:p>
          <a:p>
            <a:r>
              <a:rPr lang="en-US" sz="2800" dirty="0"/>
              <a:t>Biswadeep Dawn – 23BCE1024</a:t>
            </a:r>
          </a:p>
          <a:p>
            <a:r>
              <a:rPr lang="en-US" sz="2800" dirty="0"/>
              <a:t>Rahul Dutta – 23BCE1250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EACC3DA-F6BF-8366-D188-8471378671D0}"/>
              </a:ext>
            </a:extLst>
          </p:cNvPr>
          <p:cNvSpPr txBox="1">
            <a:spLocks/>
          </p:cNvSpPr>
          <p:nvPr/>
        </p:nvSpPr>
        <p:spPr>
          <a:xfrm>
            <a:off x="2761488" y="1189065"/>
            <a:ext cx="9430512" cy="12435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6600" b="1" kern="1200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IN" sz="2800" dirty="0"/>
              <a:t>Cryptography and Network Security – BCSE309L</a:t>
            </a:r>
          </a:p>
          <a:p>
            <a:endParaRPr lang="en-IN" sz="2800" dirty="0"/>
          </a:p>
          <a:p>
            <a:r>
              <a:rPr lang="en-IN" sz="2800" dirty="0"/>
              <a:t>Faculty: Dr. N G Bhuvaneswari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7220" y="164432"/>
            <a:ext cx="5897559" cy="859055"/>
          </a:xfrm>
        </p:spPr>
        <p:txBody>
          <a:bodyPr/>
          <a:lstStyle/>
          <a:p>
            <a:pPr algn="ctr"/>
            <a:r>
              <a:rPr lang="en-IN" dirty="0"/>
              <a:t>Project Overview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2780ED-8337-0D2C-BF0B-FCC1F74812C2}"/>
              </a:ext>
            </a:extLst>
          </p:cNvPr>
          <p:cNvSpPr txBox="1"/>
          <p:nvPr/>
        </p:nvSpPr>
        <p:spPr>
          <a:xfrm>
            <a:off x="144377" y="1433240"/>
            <a:ext cx="9954127" cy="3991519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This project proposes a </a:t>
            </a:r>
            <a:r>
              <a:rPr lang="en-US" b="1" dirty="0">
                <a:solidFill>
                  <a:schemeClr val="bg1"/>
                </a:solidFill>
                <a:latin typeface="Book Antiqua" panose="02040602050305030304" pitchFamily="18" charset="0"/>
              </a:rPr>
              <a:t>cryptographic system</a:t>
            </a: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 that allows users to submit sensitive data </a:t>
            </a:r>
            <a:r>
              <a:rPr lang="en-US" b="1" dirty="0">
                <a:solidFill>
                  <a:schemeClr val="bg1"/>
                </a:solidFill>
                <a:latin typeface="Book Antiqua" panose="02040602050305030304" pitchFamily="18" charset="0"/>
              </a:rPr>
              <a:t>anonymously</a:t>
            </a: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, ensures that the data’s existence can be </a:t>
            </a:r>
            <a:r>
              <a:rPr lang="en-US" b="1" dirty="0">
                <a:solidFill>
                  <a:schemeClr val="bg1"/>
                </a:solidFill>
                <a:latin typeface="Book Antiqua" panose="02040602050305030304" pitchFamily="18" charset="0"/>
              </a:rPr>
              <a:t>verified</a:t>
            </a: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, and guarantees that the data is </a:t>
            </a:r>
            <a:r>
              <a:rPr lang="en-US" b="1" dirty="0">
                <a:solidFill>
                  <a:schemeClr val="bg1"/>
                </a:solidFill>
                <a:latin typeface="Book Antiqua" panose="02040602050305030304" pitchFamily="18" charset="0"/>
              </a:rPr>
              <a:t>automatically destroyed</a:t>
            </a: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 after a fixed time using cryptography.</a:t>
            </a:r>
          </a:p>
          <a:p>
            <a:pPr>
              <a:buNone/>
            </a:pPr>
            <a:endParaRPr lang="en-US" dirty="0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Book Antiqua" panose="02040602050305030304" pitchFamily="18" charset="0"/>
              </a:rPr>
              <a:t>The system ensures: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No identity is stored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No plaintext is stored on the 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Data can be proven to exist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Data becomes unrecoverable after expiry</a:t>
            </a:r>
          </a:p>
          <a:p>
            <a:pPr>
              <a:buNone/>
            </a:pPr>
            <a:endParaRPr lang="en-US" dirty="0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pPr>
              <a:buNone/>
            </a:pPr>
            <a:endParaRPr lang="en-US" b="1" dirty="0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pPr>
              <a:buNone/>
            </a:pPr>
            <a:endParaRPr lang="en-US" b="1" dirty="0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pPr>
              <a:buNone/>
            </a:pPr>
            <a:endParaRPr lang="en-US" b="1" dirty="0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pPr>
              <a:buNone/>
            </a:pPr>
            <a:endParaRPr lang="en-US" b="1" dirty="0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pPr>
              <a:buNone/>
            </a:pPr>
            <a:endParaRPr lang="en-US" b="1" dirty="0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pPr>
              <a:buNone/>
            </a:pPr>
            <a:endParaRPr lang="en-US" b="1" dirty="0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pPr>
              <a:buNone/>
            </a:pPr>
            <a:endParaRPr lang="en-US" b="1" dirty="0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pPr>
              <a:buNone/>
            </a:pPr>
            <a:endParaRPr lang="en-US" b="1" dirty="0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Book Antiqua" panose="02040602050305030304" pitchFamily="18" charset="0"/>
              </a:rPr>
              <a:t>This makes it suitable for: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Anonymous feedback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Whistleblowing platforms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Secure academic submissions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Confidential reporting</a:t>
            </a:r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59B2BF1-8116-3653-D737-BDFED47738CB}"/>
              </a:ext>
            </a:extLst>
          </p:cNvPr>
          <p:cNvSpPr txBox="1">
            <a:spLocks/>
          </p:cNvSpPr>
          <p:nvPr/>
        </p:nvSpPr>
        <p:spPr>
          <a:xfrm>
            <a:off x="3147220" y="164432"/>
            <a:ext cx="5897559" cy="8590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5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Introduction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E6E830-486E-B2C4-6FD9-6893144E2380}"/>
              </a:ext>
            </a:extLst>
          </p:cNvPr>
          <p:cNvSpPr txBox="1"/>
          <p:nvPr/>
        </p:nvSpPr>
        <p:spPr>
          <a:xfrm>
            <a:off x="168442" y="1859339"/>
            <a:ext cx="894748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In today’s digital systems, sensitive information such as feedback, complaints, exam submissions, and reports are stored for long periods, creating serious privacy and security risks.</a:t>
            </a:r>
          </a:p>
          <a:p>
            <a:pPr>
              <a:buNone/>
            </a:pPr>
            <a:endParaRPr lang="en-US" dirty="0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Book Antiqua" panose="02040602050305030304" pitchFamily="18" charset="0"/>
              </a:rPr>
              <a:t>Even when encryption is used: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Administrators can access decrypted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Data remains recoverable forever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Users must reveal identity for authenticity</a:t>
            </a:r>
          </a:p>
          <a:p>
            <a:pPr>
              <a:buNone/>
            </a:pPr>
            <a:endParaRPr lang="en-US" dirty="0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Our project focuses on </a:t>
            </a:r>
            <a:r>
              <a:rPr lang="en-US" b="1" dirty="0">
                <a:solidFill>
                  <a:schemeClr val="bg1"/>
                </a:solidFill>
                <a:latin typeface="Book Antiqua" panose="02040602050305030304" pitchFamily="18" charset="0"/>
              </a:rPr>
              <a:t>cryptographic trust</a:t>
            </a: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, where </a:t>
            </a:r>
            <a:r>
              <a:rPr lang="en-US" b="1" dirty="0">
                <a:solidFill>
                  <a:schemeClr val="bg1"/>
                </a:solidFill>
                <a:latin typeface="Book Antiqua" panose="02040602050305030304" pitchFamily="18" charset="0"/>
              </a:rPr>
              <a:t>privacy, authenticity, and data expiry</a:t>
            </a: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 are enforced mathematically, not administratively.</a:t>
            </a:r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FCD0147-CCAD-7EF2-643B-9EF9365A60A4}"/>
              </a:ext>
            </a:extLst>
          </p:cNvPr>
          <p:cNvSpPr txBox="1">
            <a:spLocks/>
          </p:cNvSpPr>
          <p:nvPr/>
        </p:nvSpPr>
        <p:spPr>
          <a:xfrm>
            <a:off x="2411810" y="220579"/>
            <a:ext cx="7368379" cy="8590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5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Problem Statement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87E497-2A96-1A29-E526-4DC3420B616F}"/>
              </a:ext>
            </a:extLst>
          </p:cNvPr>
          <p:cNvSpPr txBox="1"/>
          <p:nvPr/>
        </p:nvSpPr>
        <p:spPr>
          <a:xfrm>
            <a:off x="136358" y="1720840"/>
            <a:ext cx="903170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Current digital systems suffer from three major security problems:</a:t>
            </a:r>
          </a:p>
          <a:p>
            <a:endParaRPr lang="en-US" b="1" dirty="0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Book Antiqua" panose="02040602050305030304" pitchFamily="18" charset="0"/>
              </a:rPr>
              <a:t>No true anonymity</a:t>
            </a:r>
            <a:b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Users must reveal identity to prove authenticity.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Book Antiqua" panose="02040602050305030304" pitchFamily="18" charset="0"/>
              </a:rPr>
              <a:t>No cryptographic proof of existence</a:t>
            </a:r>
            <a:b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Systems cannot prove that data existed at a given time without storing the data itself.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Book Antiqua" panose="02040602050305030304" pitchFamily="18" charset="0"/>
              </a:rPr>
              <a:t>No guaranteed data deletion</a:t>
            </a:r>
            <a:b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Even after purpose is served, encrypted data remains recoverable.</a:t>
            </a:r>
          </a:p>
          <a:p>
            <a:pPr>
              <a:buNone/>
            </a:pPr>
            <a:endParaRPr lang="en-US" dirty="0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There is no unified system that supports </a:t>
            </a:r>
            <a:r>
              <a:rPr lang="en-US" b="1" dirty="0">
                <a:solidFill>
                  <a:schemeClr val="bg1"/>
                </a:solidFill>
                <a:latin typeface="Book Antiqua" panose="02040602050305030304" pitchFamily="18" charset="0"/>
              </a:rPr>
              <a:t>anonymous submission</a:t>
            </a: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, </a:t>
            </a:r>
            <a:r>
              <a:rPr lang="en-US" b="1" dirty="0">
                <a:solidFill>
                  <a:schemeClr val="bg1"/>
                </a:solidFill>
                <a:latin typeface="Book Antiqua" panose="02040602050305030304" pitchFamily="18" charset="0"/>
              </a:rPr>
              <a:t>verifiable data existence</a:t>
            </a: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, and </a:t>
            </a:r>
            <a:r>
              <a:rPr lang="en-US" b="1" dirty="0">
                <a:solidFill>
                  <a:schemeClr val="bg1"/>
                </a:solidFill>
                <a:latin typeface="Book Antiqua" panose="02040602050305030304" pitchFamily="18" charset="0"/>
              </a:rPr>
              <a:t>cryptographic data expiry</a:t>
            </a: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714B26F0-6B9B-5E10-76EE-CE9CF6842BCF}"/>
              </a:ext>
            </a:extLst>
          </p:cNvPr>
          <p:cNvSpPr txBox="1">
            <a:spLocks/>
          </p:cNvSpPr>
          <p:nvPr/>
        </p:nvSpPr>
        <p:spPr>
          <a:xfrm>
            <a:off x="2411810" y="220579"/>
            <a:ext cx="7368379" cy="8590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5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Objectives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D777B4-653C-DFB8-DFE9-9D01F832E4A5}"/>
              </a:ext>
            </a:extLst>
          </p:cNvPr>
          <p:cNvSpPr txBox="1"/>
          <p:nvPr/>
        </p:nvSpPr>
        <p:spPr>
          <a:xfrm>
            <a:off x="172452" y="2274838"/>
            <a:ext cx="11847094" cy="2308324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The </a:t>
            </a:r>
            <a:r>
              <a:rPr lang="en-US" b="1" dirty="0">
                <a:solidFill>
                  <a:schemeClr val="bg1"/>
                </a:solidFill>
                <a:latin typeface="Book Antiqua" panose="02040602050305030304" pitchFamily="18" charset="0"/>
              </a:rPr>
              <a:t>objectives</a:t>
            </a: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 of this project are:</a:t>
            </a:r>
          </a:p>
          <a:p>
            <a:pPr>
              <a:buNone/>
            </a:pPr>
            <a:endParaRPr lang="en-US" dirty="0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To allow users to submit data </a:t>
            </a:r>
            <a:r>
              <a:rPr lang="en-US" b="1" dirty="0">
                <a:solidFill>
                  <a:schemeClr val="bg1"/>
                </a:solidFill>
                <a:latin typeface="Book Antiqua" panose="02040602050305030304" pitchFamily="18" charset="0"/>
              </a:rPr>
              <a:t>anonymously but authentically</a:t>
            </a:r>
            <a:endParaRPr lang="en-US" dirty="0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To generate </a:t>
            </a:r>
            <a:r>
              <a:rPr lang="en-US" b="1" dirty="0">
                <a:solidFill>
                  <a:schemeClr val="bg1"/>
                </a:solidFill>
                <a:latin typeface="Book Antiqua" panose="02040602050305030304" pitchFamily="18" charset="0"/>
              </a:rPr>
              <a:t>cryptographic proof-of-existence            </a:t>
            </a: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for each submission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To store only encrypted data on the 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To ensure that data becomes </a:t>
            </a:r>
            <a:r>
              <a:rPr lang="en-US" b="1" dirty="0">
                <a:solidFill>
                  <a:schemeClr val="bg1"/>
                </a:solidFill>
                <a:latin typeface="Book Antiqua" panose="02040602050305030304" pitchFamily="18" charset="0"/>
              </a:rPr>
              <a:t>irrecoverable after expiry</a:t>
            </a:r>
            <a:endParaRPr lang="en-US" dirty="0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To prevent misuse by administrators or attackers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To ensure </a:t>
            </a:r>
            <a:r>
              <a:rPr lang="en-US" b="1" dirty="0">
                <a:solidFill>
                  <a:schemeClr val="bg1"/>
                </a:solidFill>
                <a:latin typeface="Book Antiqua" panose="02040602050305030304" pitchFamily="18" charset="0"/>
              </a:rPr>
              <a:t>zero-trust server architecture</a:t>
            </a:r>
            <a:endParaRPr lang="en-US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478C69-0A1D-45FF-8600-ED903803F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3F86E857-70B9-8534-5B0E-06E06F3645BD}"/>
              </a:ext>
            </a:extLst>
          </p:cNvPr>
          <p:cNvSpPr txBox="1">
            <a:spLocks/>
          </p:cNvSpPr>
          <p:nvPr/>
        </p:nvSpPr>
        <p:spPr>
          <a:xfrm>
            <a:off x="2411810" y="220579"/>
            <a:ext cx="7368379" cy="8590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5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Proposed Solution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C38294-2DAF-0A30-119B-C26B0D50F9F9}"/>
              </a:ext>
            </a:extLst>
          </p:cNvPr>
          <p:cNvSpPr txBox="1"/>
          <p:nvPr/>
        </p:nvSpPr>
        <p:spPr>
          <a:xfrm>
            <a:off x="156410" y="1832836"/>
            <a:ext cx="11879178" cy="3192327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>
              <a:buNone/>
            </a:pPr>
            <a:r>
              <a:rPr lang="en-IN" dirty="0">
                <a:solidFill>
                  <a:schemeClr val="bg1"/>
                </a:solidFill>
                <a:latin typeface="Book Antiqua" panose="02040602050305030304" pitchFamily="18" charset="0"/>
              </a:rPr>
              <a:t>We propose a </a:t>
            </a:r>
            <a:r>
              <a:rPr lang="en-IN" b="1" dirty="0">
                <a:solidFill>
                  <a:schemeClr val="bg1"/>
                </a:solidFill>
                <a:latin typeface="Book Antiqua" panose="02040602050305030304" pitchFamily="18" charset="0"/>
              </a:rPr>
              <a:t>cryptographic lifecycle framework</a:t>
            </a:r>
            <a:r>
              <a:rPr lang="en-IN" dirty="0">
                <a:solidFill>
                  <a:schemeClr val="bg1"/>
                </a:solidFill>
                <a:latin typeface="Book Antiqua" panose="02040602050305030304" pitchFamily="18" charset="0"/>
              </a:rPr>
              <a:t>        that manages data from creation to destruction          using   security algorithms.</a:t>
            </a:r>
          </a:p>
          <a:p>
            <a:pPr>
              <a:buNone/>
            </a:pPr>
            <a:endParaRPr lang="en-IN" dirty="0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pPr>
              <a:buNone/>
            </a:pPr>
            <a:r>
              <a:rPr lang="en-IN" dirty="0">
                <a:solidFill>
                  <a:schemeClr val="bg1"/>
                </a:solidFill>
                <a:latin typeface="Book Antiqua" panose="02040602050305030304" pitchFamily="18" charset="0"/>
              </a:rPr>
              <a:t>Key technologies used: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Book Antiqua" panose="02040602050305030304" pitchFamily="18" charset="0"/>
              </a:rPr>
              <a:t>AES</a:t>
            </a:r>
            <a:r>
              <a:rPr lang="en-IN" dirty="0">
                <a:solidFill>
                  <a:schemeClr val="bg1"/>
                </a:solidFill>
                <a:latin typeface="Book Antiqua" panose="02040602050305030304" pitchFamily="18" charset="0"/>
              </a:rPr>
              <a:t> for data encryption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Book Antiqua" panose="02040602050305030304" pitchFamily="18" charset="0"/>
              </a:rPr>
              <a:t>RSA-OAEP</a:t>
            </a:r>
            <a:r>
              <a:rPr lang="en-IN" dirty="0">
                <a:solidFill>
                  <a:schemeClr val="bg1"/>
                </a:solidFill>
                <a:latin typeface="Book Antiqua" panose="02040602050305030304" pitchFamily="18" charset="0"/>
              </a:rPr>
              <a:t> for secure key protection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Book Antiqua" panose="02040602050305030304" pitchFamily="18" charset="0"/>
              </a:rPr>
              <a:t>SHA-256</a:t>
            </a:r>
            <a:r>
              <a:rPr lang="en-IN" dirty="0">
                <a:solidFill>
                  <a:schemeClr val="bg1"/>
                </a:solidFill>
                <a:latin typeface="Book Antiqua" panose="02040602050305030304" pitchFamily="18" charset="0"/>
              </a:rPr>
              <a:t> for hashing and proof-of-existence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Book Antiqua" panose="02040602050305030304" pitchFamily="18" charset="0"/>
              </a:rPr>
              <a:t>Digital Signatures</a:t>
            </a:r>
            <a:r>
              <a:rPr lang="en-IN" dirty="0">
                <a:solidFill>
                  <a:schemeClr val="bg1"/>
                </a:solidFill>
                <a:latin typeface="Book Antiqua" panose="02040602050305030304" pitchFamily="18" charset="0"/>
              </a:rPr>
              <a:t> for integrity and authenticity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Book Antiqua" panose="02040602050305030304" pitchFamily="18" charset="0"/>
              </a:rPr>
              <a:t>Time-based key destruction</a:t>
            </a:r>
            <a:r>
              <a:rPr lang="en-IN" dirty="0">
                <a:solidFill>
                  <a:schemeClr val="bg1"/>
                </a:solidFill>
                <a:latin typeface="Book Antiqua" panose="02040602050305030304" pitchFamily="18" charset="0"/>
              </a:rPr>
              <a:t> for irreversible data expiry</a:t>
            </a:r>
          </a:p>
          <a:p>
            <a:pPr>
              <a:buNone/>
            </a:pPr>
            <a:endParaRPr lang="en-IN" dirty="0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pPr>
              <a:buNone/>
            </a:pPr>
            <a:endParaRPr lang="en-IN" dirty="0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pPr>
              <a:buNone/>
            </a:pPr>
            <a:endParaRPr lang="en-IN" dirty="0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pPr>
              <a:buNone/>
            </a:pPr>
            <a:r>
              <a:rPr lang="en-IN" dirty="0">
                <a:solidFill>
                  <a:schemeClr val="bg1"/>
                </a:solidFill>
                <a:latin typeface="Book Antiqua" panose="02040602050305030304" pitchFamily="18" charset="0"/>
              </a:rPr>
              <a:t>The server never sees: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Book Antiqua" panose="02040602050305030304" pitchFamily="18" charset="0"/>
              </a:rPr>
              <a:t>User identity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Book Antiqua" panose="02040602050305030304" pitchFamily="18" charset="0"/>
              </a:rPr>
              <a:t>Plaintext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Book Antiqua" panose="02040602050305030304" pitchFamily="18" charset="0"/>
              </a:rPr>
              <a:t>Usable encryption keys after expiry</a:t>
            </a:r>
          </a:p>
        </p:txBody>
      </p:sp>
    </p:spTree>
    <p:extLst>
      <p:ext uri="{BB962C8B-B14F-4D97-AF65-F5344CB8AC3E}">
        <p14:creationId xmlns:p14="http://schemas.microsoft.com/office/powerpoint/2010/main" val="451187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B731F-0953-EE1C-9B19-7BC0B1CDB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47EDA1-B7C8-1599-F03D-84B97C5B6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837503AD-005B-1813-299F-5798941EC148}"/>
              </a:ext>
            </a:extLst>
          </p:cNvPr>
          <p:cNvSpPr txBox="1">
            <a:spLocks/>
          </p:cNvSpPr>
          <p:nvPr/>
        </p:nvSpPr>
        <p:spPr>
          <a:xfrm>
            <a:off x="2411810" y="220579"/>
            <a:ext cx="7368379" cy="8590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5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System Architecture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746DCB-2475-C659-B7A4-29971C93C556}"/>
              </a:ext>
            </a:extLst>
          </p:cNvPr>
          <p:cNvSpPr txBox="1"/>
          <p:nvPr/>
        </p:nvSpPr>
        <p:spPr>
          <a:xfrm>
            <a:off x="7443537" y="1773250"/>
            <a:ext cx="4547938" cy="3970318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>
              <a:buNone/>
            </a:pPr>
            <a:r>
              <a:rPr lang="en-IN" dirty="0">
                <a:solidFill>
                  <a:schemeClr val="bg1"/>
                </a:solidFill>
                <a:latin typeface="Book Antiqua" panose="02040602050305030304" pitchFamily="18" charset="0"/>
              </a:rPr>
              <a:t>Layers: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Book Antiqua" panose="02040602050305030304" pitchFamily="18" charset="0"/>
              </a:rPr>
              <a:t>User Layer – </a:t>
            </a:r>
            <a:r>
              <a:rPr lang="en-IN" dirty="0">
                <a:solidFill>
                  <a:schemeClr val="bg1"/>
                </a:solidFill>
                <a:latin typeface="Book Antiqua" panose="02040602050305030304" pitchFamily="18" charset="0"/>
              </a:rPr>
              <a:t>submits data anonymously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Book Antiqua" panose="02040602050305030304" pitchFamily="18" charset="0"/>
              </a:rPr>
              <a:t>Client Encryption Layer – </a:t>
            </a:r>
            <a:r>
              <a:rPr lang="en-IN" dirty="0">
                <a:solidFill>
                  <a:schemeClr val="bg1"/>
                </a:solidFill>
                <a:latin typeface="Book Antiqua" panose="02040602050305030304" pitchFamily="18" charset="0"/>
              </a:rPr>
              <a:t>encrypts data using AES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Book Antiqua" panose="02040602050305030304" pitchFamily="18" charset="0"/>
              </a:rPr>
              <a:t>Backend Cryptographic Layer – </a:t>
            </a:r>
            <a:r>
              <a:rPr lang="en-IN" dirty="0">
                <a:solidFill>
                  <a:schemeClr val="bg1"/>
                </a:solidFill>
                <a:latin typeface="Book Antiqua" panose="02040602050305030304" pitchFamily="18" charset="0"/>
              </a:rPr>
              <a:t>protects keys using RSA and signs hashes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Book Antiqua" panose="02040602050305030304" pitchFamily="18" charset="0"/>
              </a:rPr>
              <a:t>Temporary Storage Layer – </a:t>
            </a:r>
            <a:r>
              <a:rPr lang="en-IN" dirty="0">
                <a:solidFill>
                  <a:schemeClr val="bg1"/>
                </a:solidFill>
                <a:latin typeface="Book Antiqua" panose="02040602050305030304" pitchFamily="18" charset="0"/>
              </a:rPr>
              <a:t>stores encrypted data and encrypted keys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Book Antiqua" panose="02040602050305030304" pitchFamily="18" charset="0"/>
              </a:rPr>
              <a:t>Key Expiry Scheduler – </a:t>
            </a:r>
            <a:r>
              <a:rPr lang="en-IN" dirty="0">
                <a:solidFill>
                  <a:schemeClr val="bg1"/>
                </a:solidFill>
                <a:latin typeface="Book Antiqua" panose="02040602050305030304" pitchFamily="18" charset="0"/>
              </a:rPr>
              <a:t>destroys AES keys after expiry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Book Antiqua" panose="02040602050305030304" pitchFamily="18" charset="0"/>
              </a:rPr>
              <a:t>Verification Layer – </a:t>
            </a:r>
            <a:r>
              <a:rPr lang="en-IN" dirty="0">
                <a:solidFill>
                  <a:schemeClr val="bg1"/>
                </a:solidFill>
                <a:latin typeface="Book Antiqua" panose="02040602050305030304" pitchFamily="18" charset="0"/>
              </a:rPr>
              <a:t>verifies proof-of-existence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147D6B-CD5E-E72A-6ADC-8EBA8675C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24" y="1534025"/>
            <a:ext cx="6806867" cy="4537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620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5E0F5-5287-C9D5-47A3-14F1C1FBE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994BBE-7384-63C7-2E04-C97F92274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49DFCF27-B42E-E8BF-B346-E663600B4C22}"/>
              </a:ext>
            </a:extLst>
          </p:cNvPr>
          <p:cNvSpPr txBox="1">
            <a:spLocks/>
          </p:cNvSpPr>
          <p:nvPr/>
        </p:nvSpPr>
        <p:spPr>
          <a:xfrm>
            <a:off x="1558830" y="113396"/>
            <a:ext cx="9074337" cy="8590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5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How the System Works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645AD7-A2A6-32A5-5E9A-5D3E0D95DBB2}"/>
              </a:ext>
            </a:extLst>
          </p:cNvPr>
          <p:cNvSpPr txBox="1"/>
          <p:nvPr/>
        </p:nvSpPr>
        <p:spPr>
          <a:xfrm>
            <a:off x="114299" y="2690336"/>
            <a:ext cx="11963398" cy="1477328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latin typeface="Book Antiqua" panose="02040602050305030304" pitchFamily="18" charset="0"/>
              </a:rPr>
              <a:t>User submits data anonymously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latin typeface="Book Antiqua" panose="02040602050305030304" pitchFamily="18" charset="0"/>
              </a:rPr>
              <a:t>Data is encrypted using AES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latin typeface="Book Antiqua" panose="02040602050305030304" pitchFamily="18" charset="0"/>
              </a:rPr>
              <a:t>AES key is encrypted using RSA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latin typeface="Book Antiqua" panose="02040602050305030304" pitchFamily="18" charset="0"/>
              </a:rPr>
              <a:t>Server generates hash + timestamp                                 + digital signature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latin typeface="Book Antiqua" panose="02040602050305030304" pitchFamily="18" charset="0"/>
              </a:rPr>
              <a:t>Encrypted data and encrypted key are stored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latin typeface="Book Antiqua" panose="02040602050305030304" pitchFamily="18" charset="0"/>
              </a:rPr>
              <a:t>Scheduler destroys AES key after expiry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latin typeface="Book Antiqua" panose="02040602050305030304" pitchFamily="18" charset="0"/>
              </a:rPr>
              <a:t>Data becomes permanently unreadable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latin typeface="Book Antiqua" panose="02040602050305030304" pitchFamily="18" charset="0"/>
              </a:rPr>
              <a:t>Proof can still be verified using hash and signature</a:t>
            </a:r>
          </a:p>
        </p:txBody>
      </p:sp>
    </p:spTree>
    <p:extLst>
      <p:ext uri="{BB962C8B-B14F-4D97-AF65-F5344CB8AC3E}">
        <p14:creationId xmlns:p14="http://schemas.microsoft.com/office/powerpoint/2010/main" val="4086628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DC7217-2779-44E0-9E6D-3B3879516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91F2071E-A5E5-E78E-1797-8D4C748908FA}"/>
              </a:ext>
            </a:extLst>
          </p:cNvPr>
          <p:cNvSpPr txBox="1">
            <a:spLocks/>
          </p:cNvSpPr>
          <p:nvPr/>
        </p:nvSpPr>
        <p:spPr>
          <a:xfrm>
            <a:off x="1558830" y="113396"/>
            <a:ext cx="9074337" cy="8590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5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dirty="0"/>
              <a:t>Applications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667B18-1796-2099-8C30-1F3BDAC6E529}"/>
              </a:ext>
            </a:extLst>
          </p:cNvPr>
          <p:cNvSpPr txBox="1"/>
          <p:nvPr/>
        </p:nvSpPr>
        <p:spPr>
          <a:xfrm>
            <a:off x="2943726" y="2690336"/>
            <a:ext cx="8478253" cy="1477328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This system can be used for:</a:t>
            </a:r>
          </a:p>
          <a:p>
            <a:pPr>
              <a:buNone/>
            </a:pPr>
            <a:endParaRPr lang="en-US" dirty="0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Anonymous student feedback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Whistleblower platforms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Secure complaint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endParaRPr lang="en-US" dirty="0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Exam submissions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Legal document submission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Research paper timestamping</a:t>
            </a:r>
          </a:p>
        </p:txBody>
      </p:sp>
    </p:spTree>
    <p:extLst>
      <p:ext uri="{BB962C8B-B14F-4D97-AF65-F5344CB8AC3E}">
        <p14:creationId xmlns:p14="http://schemas.microsoft.com/office/powerpoint/2010/main" val="914134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871F3895-FEF2-D1F8-9F08-F72426C0806B}"/>
              </a:ext>
            </a:extLst>
          </p:cNvPr>
          <p:cNvSpPr txBox="1">
            <a:spLocks/>
          </p:cNvSpPr>
          <p:nvPr/>
        </p:nvSpPr>
        <p:spPr>
          <a:xfrm>
            <a:off x="1558830" y="113396"/>
            <a:ext cx="9074337" cy="8590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5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R</a:t>
            </a:r>
            <a:r>
              <a:rPr lang="en-IN" dirty="0"/>
              <a:t>elated Works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F1967F-7FBE-02DD-F555-19CF20F3049D}"/>
              </a:ext>
            </a:extLst>
          </p:cNvPr>
          <p:cNvSpPr txBox="1"/>
          <p:nvPr/>
        </p:nvSpPr>
        <p:spPr>
          <a:xfrm>
            <a:off x="280735" y="1305341"/>
            <a:ext cx="11630526" cy="4247317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bg1">
                    <a:lumMod val="95000"/>
                  </a:schemeClr>
                </a:solidFill>
                <a:latin typeface="Book Antiqua" panose="02040602050305030304" pitchFamily="18" charset="0"/>
              </a:rPr>
              <a:t>Emura</a:t>
            </a:r>
            <a:r>
              <a:rPr lang="en-IN" dirty="0">
                <a:solidFill>
                  <a:schemeClr val="bg1">
                    <a:lumMod val="95000"/>
                  </a:schemeClr>
                </a:solidFill>
                <a:latin typeface="Book Antiqua" panose="02040602050305030304" pitchFamily="18" charset="0"/>
              </a:rPr>
              <a:t> et al. (2017): Proposes a new security model for group signatures with time-bound keys and an efficient construction with practical implementation.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bg1">
                  <a:lumMod val="95000"/>
                </a:schemeClr>
              </a:solidFill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>
                    <a:lumMod val="95000"/>
                  </a:schemeClr>
                </a:solidFill>
                <a:latin typeface="Book Antiqua" panose="02040602050305030304" pitchFamily="18" charset="0"/>
              </a:rPr>
              <a:t>Thyagarajan et al. (2020): Presents practical verifiable timed signatures enabling time-specific verifiability without trusted setups."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bg1">
                  <a:lumMod val="95000"/>
                </a:schemeClr>
              </a:solidFill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>
                    <a:lumMod val="95000"/>
                  </a:schemeClr>
                </a:solidFill>
                <a:latin typeface="Book Antiqua" panose="02040602050305030304" pitchFamily="18" charset="0"/>
              </a:rPr>
              <a:t>Bao et al. (2023): Introduces constant-size verifiable timed signatures from RSA groups, optimized for Bitcoin-based voting.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bg1">
                  <a:lumMod val="95000"/>
                </a:schemeClr>
              </a:solidFill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>
                    <a:lumMod val="95000"/>
                  </a:schemeClr>
                </a:solidFill>
                <a:latin typeface="Book Antiqua" panose="02040602050305030304" pitchFamily="18" charset="0"/>
              </a:rPr>
              <a:t>Nie et al. (2022): Enables time-controlled verifiable secure search over blockchain-shared electronic health records in IoT.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bg1">
                  <a:lumMod val="95000"/>
                </a:schemeClr>
              </a:solidFill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>
                    <a:lumMod val="95000"/>
                  </a:schemeClr>
                </a:solidFill>
                <a:latin typeface="Book Antiqua" panose="02040602050305030304" pitchFamily="18" charset="0"/>
              </a:rPr>
              <a:t>Yu et al. (2023): Develops </a:t>
            </a:r>
            <a:r>
              <a:rPr lang="en-IN" dirty="0" err="1">
                <a:solidFill>
                  <a:schemeClr val="bg1">
                    <a:lumMod val="95000"/>
                  </a:schemeClr>
                </a:solidFill>
                <a:latin typeface="Book Antiqua" panose="02040602050305030304" pitchFamily="18" charset="0"/>
              </a:rPr>
              <a:t>VeriAnon</a:t>
            </a:r>
            <a:r>
              <a:rPr lang="en-IN" dirty="0">
                <a:solidFill>
                  <a:schemeClr val="bg1">
                    <a:lumMod val="95000"/>
                  </a:schemeClr>
                </a:solidFill>
                <a:latin typeface="Book Antiqua" panose="02040602050305030304" pitchFamily="18" charset="0"/>
              </a:rPr>
              <a:t>, using ring signatures and clustering Merkle trees for anonymous, verifiable decentralized commenting.</a:t>
            </a:r>
          </a:p>
          <a:p>
            <a:pPr>
              <a:buNone/>
            </a:pPr>
            <a:endParaRPr lang="en-US" dirty="0">
              <a:solidFill>
                <a:schemeClr val="bg1">
                  <a:lumMod val="95000"/>
                </a:schemeClr>
              </a:solidFill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91C2A-4A9D-B55B-D306-A13EC32CE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BAF404-3BF1-18F2-112A-276A90F82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C8539DCC-2797-19A1-C9D9-5F9F7579825B}"/>
              </a:ext>
            </a:extLst>
          </p:cNvPr>
          <p:cNvSpPr txBox="1">
            <a:spLocks/>
          </p:cNvSpPr>
          <p:nvPr/>
        </p:nvSpPr>
        <p:spPr>
          <a:xfrm>
            <a:off x="1558830" y="113396"/>
            <a:ext cx="9074337" cy="8590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5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dirty="0"/>
              <a:t>Summary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243571-468A-A36C-2767-4686DD1BF34E}"/>
              </a:ext>
            </a:extLst>
          </p:cNvPr>
          <p:cNvSpPr txBox="1"/>
          <p:nvPr/>
        </p:nvSpPr>
        <p:spPr>
          <a:xfrm>
            <a:off x="2713791" y="2413337"/>
            <a:ext cx="9248274" cy="2031325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We designed a system that ensures:</a:t>
            </a:r>
          </a:p>
          <a:p>
            <a:pPr>
              <a:buNone/>
            </a:pPr>
            <a:endParaRPr lang="en-US" dirty="0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Anonymous data submission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Verifiable proof of data existence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endParaRPr lang="en-US" dirty="0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endParaRPr lang="en-US" dirty="0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endParaRPr lang="en-US" dirty="0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endParaRPr lang="en-US" dirty="0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Automatic cryptographic data expiry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Zero trust in server administrators</a:t>
            </a:r>
          </a:p>
          <a:p>
            <a:pPr>
              <a:buNone/>
            </a:pPr>
            <a:endParaRPr lang="en-US" dirty="0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This provides privacy, trust, and security in a single cryptographic framework.</a:t>
            </a:r>
          </a:p>
        </p:txBody>
      </p:sp>
    </p:spTree>
    <p:extLst>
      <p:ext uri="{BB962C8B-B14F-4D97-AF65-F5344CB8AC3E}">
        <p14:creationId xmlns:p14="http://schemas.microsoft.com/office/powerpoint/2010/main" val="3292585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199A2-E414-77F0-E8C9-08321F17B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C1865085-E8DD-D8E4-3B60-FFE59B1E007E}"/>
              </a:ext>
            </a:extLst>
          </p:cNvPr>
          <p:cNvSpPr txBox="1">
            <a:spLocks/>
          </p:cNvSpPr>
          <p:nvPr/>
        </p:nvSpPr>
        <p:spPr>
          <a:xfrm>
            <a:off x="1558830" y="113396"/>
            <a:ext cx="9074337" cy="8590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5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References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A43389-08C2-BF93-B4FF-F48188CEFAD6}"/>
              </a:ext>
            </a:extLst>
          </p:cNvPr>
          <p:cNvSpPr txBox="1"/>
          <p:nvPr/>
        </p:nvSpPr>
        <p:spPr>
          <a:xfrm>
            <a:off x="280735" y="1305341"/>
            <a:ext cx="11630526" cy="5078313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Book Antiqua" panose="02040602050305030304" pitchFamily="18" charset="0"/>
              </a:rPr>
              <a:t>Emura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Book Antiqua" panose="02040602050305030304" pitchFamily="18" charset="0"/>
              </a:rPr>
              <a:t>, K., Hayashi, T., &amp; Ishida, A. (2017). Group signatures with time-bound keys revisited: a new model, an efficient construction, and its implementation. </a:t>
            </a:r>
            <a:r>
              <a:rPr lang="en-US" i="1" dirty="0">
                <a:solidFill>
                  <a:schemeClr val="bg1">
                    <a:lumMod val="95000"/>
                  </a:schemeClr>
                </a:solidFill>
                <a:latin typeface="Book Antiqua" panose="02040602050305030304" pitchFamily="18" charset="0"/>
              </a:rPr>
              <a:t>IEEE Transactions on Dependable and Secure Computing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Book Antiqua" panose="02040602050305030304" pitchFamily="18" charset="0"/>
              </a:rPr>
              <a:t>, </a:t>
            </a:r>
            <a:r>
              <a:rPr lang="en-US" i="1" dirty="0">
                <a:solidFill>
                  <a:schemeClr val="bg1">
                    <a:lumMod val="95000"/>
                  </a:schemeClr>
                </a:solidFill>
                <a:latin typeface="Book Antiqua" panose="02040602050305030304" pitchFamily="18" charset="0"/>
              </a:rPr>
              <a:t>17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Book Antiqua" panose="02040602050305030304" pitchFamily="18" charset="0"/>
              </a:rPr>
              <a:t>(2), 292-305.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>
                  <a:lumMod val="95000"/>
                </a:schemeClr>
              </a:solidFill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>
                    <a:lumMod val="95000"/>
                  </a:schemeClr>
                </a:solidFill>
                <a:latin typeface="Book Antiqua" panose="02040602050305030304" pitchFamily="18" charset="0"/>
              </a:rPr>
              <a:t>Thyagarajan, S. A. K., Bhat, A., Malavolta, G., </a:t>
            </a:r>
            <a:r>
              <a:rPr lang="en-IN" dirty="0" err="1">
                <a:solidFill>
                  <a:schemeClr val="bg1">
                    <a:lumMod val="95000"/>
                  </a:schemeClr>
                </a:solidFill>
                <a:latin typeface="Book Antiqua" panose="02040602050305030304" pitchFamily="18" charset="0"/>
              </a:rPr>
              <a:t>Döttling</a:t>
            </a:r>
            <a:r>
              <a:rPr lang="en-IN" dirty="0">
                <a:solidFill>
                  <a:schemeClr val="bg1">
                    <a:lumMod val="95000"/>
                  </a:schemeClr>
                </a:solidFill>
                <a:latin typeface="Book Antiqua" panose="02040602050305030304" pitchFamily="18" charset="0"/>
              </a:rPr>
              <a:t>, N., Kate, A., &amp; Schröder, D. (2020, October). Verifiable timed signatures made practical. In </a:t>
            </a:r>
            <a:r>
              <a:rPr lang="en-IN" i="1" dirty="0">
                <a:solidFill>
                  <a:schemeClr val="bg1">
                    <a:lumMod val="95000"/>
                  </a:schemeClr>
                </a:solidFill>
                <a:latin typeface="Book Antiqua" panose="02040602050305030304" pitchFamily="18" charset="0"/>
              </a:rPr>
              <a:t>Proceedings of the 2020 ACM SIGSAC conference on computer and communications security</a:t>
            </a:r>
            <a:r>
              <a:rPr lang="en-IN" dirty="0">
                <a:solidFill>
                  <a:schemeClr val="bg1">
                    <a:lumMod val="95000"/>
                  </a:schemeClr>
                </a:solidFill>
                <a:latin typeface="Book Antiqua" panose="02040602050305030304" pitchFamily="18" charset="0"/>
              </a:rPr>
              <a:t> (pp. 1733-1750).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bg1">
                  <a:lumMod val="95000"/>
                </a:schemeClr>
              </a:solidFill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>
                    <a:lumMod val="95000"/>
                  </a:schemeClr>
                </a:solidFill>
                <a:latin typeface="Book Antiqua" panose="02040602050305030304" pitchFamily="18" charset="0"/>
              </a:rPr>
              <a:t>Bao, Z., He, D., Feng, Q., Luo, M., &amp; Zeng, X. (2023). Constant-size verifiable timed signatures from RSA group for Bitcoin-based voting protocols. </a:t>
            </a:r>
            <a:r>
              <a:rPr lang="en-IN" i="1" dirty="0">
                <a:solidFill>
                  <a:schemeClr val="bg1">
                    <a:lumMod val="95000"/>
                  </a:schemeClr>
                </a:solidFill>
                <a:latin typeface="Book Antiqua" panose="02040602050305030304" pitchFamily="18" charset="0"/>
              </a:rPr>
              <a:t>IEEE Transactions on Services Computing</a:t>
            </a:r>
            <a:r>
              <a:rPr lang="en-IN" dirty="0">
                <a:solidFill>
                  <a:schemeClr val="bg1">
                    <a:lumMod val="95000"/>
                  </a:schemeClr>
                </a:solidFill>
                <a:latin typeface="Book Antiqua" panose="02040602050305030304" pitchFamily="18" charset="0"/>
              </a:rPr>
              <a:t>, </a:t>
            </a:r>
            <a:r>
              <a:rPr lang="en-IN" i="1" dirty="0">
                <a:solidFill>
                  <a:schemeClr val="bg1">
                    <a:lumMod val="95000"/>
                  </a:schemeClr>
                </a:solidFill>
                <a:latin typeface="Book Antiqua" panose="02040602050305030304" pitchFamily="18" charset="0"/>
              </a:rPr>
              <a:t>17</a:t>
            </a:r>
            <a:r>
              <a:rPr lang="en-IN" dirty="0">
                <a:solidFill>
                  <a:schemeClr val="bg1">
                    <a:lumMod val="95000"/>
                  </a:schemeClr>
                </a:solidFill>
                <a:latin typeface="Book Antiqua" panose="02040602050305030304" pitchFamily="18" charset="0"/>
              </a:rPr>
              <a:t>(4), 1414-1425.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bg1">
                  <a:lumMod val="95000"/>
                </a:schemeClr>
              </a:solidFill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Book Antiqua" panose="02040602050305030304" pitchFamily="18" charset="0"/>
              </a:rPr>
              <a:t>Nie, X., Zhang, A., Chen, J., Qu, Y., &amp; Yu, S. (2022). Time‐enabled and verifiable secure search for blockchain‐empowered electronic health record sharing in IoT. </a:t>
            </a:r>
            <a:r>
              <a:rPr lang="en-US" i="1" dirty="0">
                <a:solidFill>
                  <a:schemeClr val="bg1">
                    <a:lumMod val="95000"/>
                  </a:schemeClr>
                </a:solidFill>
                <a:latin typeface="Book Antiqua" panose="02040602050305030304" pitchFamily="18" charset="0"/>
              </a:rPr>
              <a:t>Security and Communication Networks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Book Antiqua" panose="02040602050305030304" pitchFamily="18" charset="0"/>
              </a:rPr>
              <a:t>, </a:t>
            </a:r>
            <a:r>
              <a:rPr lang="en-US" i="1" dirty="0">
                <a:solidFill>
                  <a:schemeClr val="bg1">
                    <a:lumMod val="95000"/>
                  </a:schemeClr>
                </a:solidFill>
                <a:latin typeface="Book Antiqua" panose="02040602050305030304" pitchFamily="18" charset="0"/>
              </a:rPr>
              <a:t>2022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Book Antiqua" panose="02040602050305030304" pitchFamily="18" charset="0"/>
              </a:rPr>
              <a:t>(1), 1103863.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>
                  <a:lumMod val="95000"/>
                </a:schemeClr>
              </a:solidFill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Book Antiqua" panose="02040602050305030304" pitchFamily="18" charset="0"/>
              </a:rPr>
              <a:t>Yu, J., Guo, Y., Ding, Y., &amp; Sato, H. (2023, October).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Book Antiqua" panose="02040602050305030304" pitchFamily="18" charset="0"/>
              </a:rPr>
              <a:t>VeriAnon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Book Antiqua" panose="02040602050305030304" pitchFamily="18" charset="0"/>
              </a:rPr>
              <a:t>: an Anonymous, Verifiable, and Tamper-proof Commenting System Based on Ring Signature and Clustering Merkle Tree for Decentralized Trading. In </a:t>
            </a:r>
            <a:r>
              <a:rPr lang="en-US" i="1" dirty="0">
                <a:solidFill>
                  <a:schemeClr val="bg1">
                    <a:lumMod val="95000"/>
                  </a:schemeClr>
                </a:solidFill>
                <a:latin typeface="Book Antiqua" panose="02040602050305030304" pitchFamily="18" charset="0"/>
              </a:rPr>
              <a:t>Proceedings of the 2023 4th Asia Service Sciences and Software Engineering Conference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Book Antiqua" panose="02040602050305030304" pitchFamily="18" charset="0"/>
              </a:rPr>
              <a:t> (pp. 132-140).</a:t>
            </a:r>
          </a:p>
        </p:txBody>
      </p:sp>
    </p:spTree>
    <p:extLst>
      <p:ext uri="{BB962C8B-B14F-4D97-AF65-F5344CB8AC3E}">
        <p14:creationId xmlns:p14="http://schemas.microsoft.com/office/powerpoint/2010/main" val="1853113612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EDC44-5B6A-D015-8C53-9DBEFAC52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503D1-1CAB-111D-B3AD-289F874800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4933381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164</TotalTime>
  <Words>962</Words>
  <Application>Microsoft Office PowerPoint</Application>
  <PresentationFormat>Widescreen</PresentationFormat>
  <Paragraphs>146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Book Antiqua</vt:lpstr>
      <vt:lpstr>Calibri</vt:lpstr>
      <vt:lpstr>Trade Gothic LT Pro</vt:lpstr>
      <vt:lpstr>Trebuchet MS</vt:lpstr>
      <vt:lpstr>Office Theme</vt:lpstr>
      <vt:lpstr>Design and Implementation of an Anonymous, Verifiable, and Time-Bound Data System using Hash Functions, Digital Signatures, and Public Key Cryptography</vt:lpstr>
      <vt:lpstr>Project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Biswadeep Dawn</dc:creator>
  <cp:lastModifiedBy>Rahul Dutta</cp:lastModifiedBy>
  <cp:revision>5</cp:revision>
  <dcterms:created xsi:type="dcterms:W3CDTF">2026-01-13T12:45:46Z</dcterms:created>
  <dcterms:modified xsi:type="dcterms:W3CDTF">2026-01-20T14:19:26Z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